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  <p:embeddedFont>
      <p:font typeface="Gill Sans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AC5B5B-CDB4-475F-BC3A-14C98AAD61A3}">
  <a:tblStyle styleId="{05AC5B5B-CDB4-475F-BC3A-14C98AAD61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3DEC917-87E7-408B-B352-A673C8E0A5B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illSans-regular.fntdata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Gill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effe5b6a1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4effe5b6a1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e9aea646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e9aea64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71ccafa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71ccafa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22e752e0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22e752e0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22e752e0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22e752e0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05d003e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05d003e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475d6f6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475d6f6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e9aea646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e9aea64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e9aea646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e9aea646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d10807d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d10807d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effe5b6a1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effe5b6a1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05d003ee5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505d003ee5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82867" y="272233"/>
            <a:ext cx="1435607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3200"/>
              <a:buFont typeface="Montserrat"/>
              <a:buNone/>
              <a:defRPr b="1" sz="32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225450" y="1011500"/>
            <a:ext cx="8693100" cy="35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2200"/>
              <a:buFont typeface="Montserrat"/>
              <a:buChar char="●"/>
              <a:defRPr sz="22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●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●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8026950" y="719000"/>
            <a:ext cx="5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54A5"/>
                </a:solidFill>
              </a:rPr>
              <a:t>gitaa.in</a:t>
            </a:r>
            <a:endParaRPr sz="700">
              <a:solidFill>
                <a:srgbClr val="2154A5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4623925" y="-50575"/>
            <a:ext cx="4563900" cy="5234700"/>
          </a:xfrm>
          <a:prstGeom prst="round1Rect">
            <a:avLst>
              <a:gd fmla="val 49949" name="adj"/>
            </a:avLst>
          </a:prstGeom>
          <a:solidFill>
            <a:srgbClr val="6D9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-8150" y="1155350"/>
            <a:ext cx="7545000" cy="4028700"/>
          </a:xfrm>
          <a:prstGeom prst="round1Rect">
            <a:avLst>
              <a:gd fmla="val 50000" name="adj"/>
            </a:avLst>
          </a:prstGeom>
          <a:solidFill>
            <a:srgbClr val="2154A5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331348" y="1766400"/>
            <a:ext cx="0" cy="2527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38675" y="272225"/>
            <a:ext cx="1433098" cy="5968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title"/>
          </p:nvPr>
        </p:nvSpPr>
        <p:spPr>
          <a:xfrm>
            <a:off x="446775" y="2246288"/>
            <a:ext cx="7156500" cy="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b="1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446775" y="2912088"/>
            <a:ext cx="6897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None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/>
        </p:nvSpPr>
        <p:spPr>
          <a:xfrm>
            <a:off x="8026950" y="719000"/>
            <a:ext cx="5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</a:rPr>
              <a:t>gitaa.in</a:t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Title Slide">
  <p:cSld name="CUSTOM_1">
    <p:bg>
      <p:bgPr>
        <a:solidFill>
          <a:srgbClr val="2154A5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1959150" y="2285400"/>
            <a:ext cx="52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38675" y="272225"/>
            <a:ext cx="1433098" cy="59687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8026950" y="719000"/>
            <a:ext cx="5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</a:rPr>
              <a:t>gitaa.in</a:t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5727525" y="0"/>
            <a:ext cx="3416400" cy="5143500"/>
          </a:xfrm>
          <a:prstGeom prst="rect">
            <a:avLst/>
          </a:prstGeom>
          <a:solidFill>
            <a:srgbClr val="2154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5450" y="272400"/>
            <a:ext cx="54645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3200"/>
              <a:buFont typeface="Montserrat"/>
              <a:buNone/>
              <a:defRPr b="1" sz="32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5450" y="1378625"/>
            <a:ext cx="5464500" cy="32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2200"/>
              <a:buFont typeface="Montserrat"/>
              <a:buChar char="●"/>
              <a:defRPr sz="22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●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●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38675" y="272225"/>
            <a:ext cx="1433098" cy="59687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/>
          <p:nvPr>
            <p:ph idx="2" type="pic"/>
          </p:nvPr>
        </p:nvSpPr>
        <p:spPr>
          <a:xfrm>
            <a:off x="6355875" y="1157100"/>
            <a:ext cx="2159700" cy="28293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5"/>
          <p:cNvSpPr txBox="1"/>
          <p:nvPr/>
        </p:nvSpPr>
        <p:spPr>
          <a:xfrm>
            <a:off x="8026950" y="719000"/>
            <a:ext cx="5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</a:rPr>
              <a:t>gitaa.in</a:t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82867" y="272233"/>
            <a:ext cx="1435607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3200"/>
              <a:buFont typeface="Montserrat"/>
              <a:buNone/>
              <a:defRPr b="1" sz="32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225450" y="1011500"/>
            <a:ext cx="8693100" cy="22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2200"/>
              <a:buFont typeface="Montserrat"/>
              <a:buChar char="●"/>
              <a:defRPr sz="22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●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●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○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800"/>
              <a:buFont typeface="Montserrat"/>
              <a:buChar char="■"/>
              <a:defRPr sz="18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6"/>
          <p:cNvSpPr txBox="1"/>
          <p:nvPr/>
        </p:nvSpPr>
        <p:spPr>
          <a:xfrm>
            <a:off x="242308" y="4658575"/>
            <a:ext cx="7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54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gitaa.in</a:t>
            </a:r>
            <a:endParaRPr sz="1200">
              <a:solidFill>
                <a:srgbClr val="2154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0" y="3555375"/>
            <a:ext cx="9153300" cy="1587900"/>
          </a:xfrm>
          <a:prstGeom prst="rect">
            <a:avLst/>
          </a:prstGeom>
          <a:solidFill>
            <a:srgbClr val="2154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 txBox="1"/>
          <p:nvPr/>
        </p:nvSpPr>
        <p:spPr>
          <a:xfrm>
            <a:off x="8026950" y="719000"/>
            <a:ext cx="5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54A5"/>
                </a:solidFill>
              </a:rPr>
              <a:t>gitaa.in</a:t>
            </a:r>
            <a:endParaRPr sz="700">
              <a:solidFill>
                <a:srgbClr val="2154A5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4">
    <p:bg>
      <p:bgPr>
        <a:solidFill>
          <a:srgbClr val="E9EEF6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1716375" y="-348925"/>
            <a:ext cx="5799900" cy="5799900"/>
          </a:xfrm>
          <a:prstGeom prst="ellipse">
            <a:avLst/>
          </a:prstGeom>
          <a:solidFill>
            <a:srgbClr val="2154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205358" y="159220"/>
            <a:ext cx="87333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0A52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304552" y="1636489"/>
            <a:ext cx="5947800" cy="30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1097566" y="4866596"/>
            <a:ext cx="7320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>
                <a:solidFill>
                  <a:srgbClr val="222C4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00491" y="4839629"/>
            <a:ext cx="180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C46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6.jpg"/><Relationship Id="rId5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b="1" lang="en" sz="43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Fundamentals of Data</a:t>
            </a:r>
            <a:endParaRPr b="1" sz="43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b="1" lang="en" sz="43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sz="6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/>
              <a:t>What is Data Visualization?</a:t>
            </a:r>
            <a:endParaRPr/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225450" y="1011500"/>
            <a:ext cx="5212200" cy="35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Data visualization refers to the graphical representation of information and data using visual elements like charts, graphs, maps, and infographics.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It transforms raw data into a visual format that is easier to understand and interpret.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Purpose: To simplify complex datasets, uncover insights, and communicate information effectively.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Examples: Bar charts for sales trends, heatmaps for website traffic, scatter plots for correlations between variables.</a:t>
            </a:r>
            <a:endParaRPr/>
          </a:p>
        </p:txBody>
      </p:sp>
      <p:pic>
        <p:nvPicPr>
          <p:cNvPr id="62" name="Google Shape;62;p11"/>
          <p:cNvPicPr preferRelativeResize="0"/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5437550" y="0"/>
            <a:ext cx="37064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1"/>
          <p:cNvSpPr txBox="1"/>
          <p:nvPr/>
        </p:nvSpPr>
        <p:spPr>
          <a:xfrm>
            <a:off x="5520650" y="1011500"/>
            <a:ext cx="3534600" cy="3412500"/>
          </a:xfrm>
          <a:prstGeom prst="rect">
            <a:avLst/>
          </a:prstGeom>
          <a:solidFill>
            <a:srgbClr val="E9EEF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"The goal is to turn data into information and information into insight.” – Carly Fiorina</a:t>
            </a:r>
            <a:endParaRPr b="1" i="1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"Visualization gives you answers to questions you didn’t know you had." – Ben Shneiderman</a:t>
            </a:r>
            <a:endParaRPr b="1" i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-129550" y="1094575"/>
            <a:ext cx="4781700" cy="35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" name="Google Shape;70;p12"/>
          <p:cNvGraphicFramePr/>
          <p:nvPr/>
        </p:nvGraphicFramePr>
        <p:xfrm>
          <a:off x="560275" y="142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{05AC5B5B-CDB4-475F-BC3A-14C98AAD61A3}</a:tableStyleId>
              </a:tblPr>
              <a:tblGrid>
                <a:gridCol w="1103700"/>
                <a:gridCol w="1904050"/>
              </a:tblGrid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Month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          Sales ($)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January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12,000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February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15,000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March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13,500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April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17,000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16,200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4485900" y="1011500"/>
            <a:ext cx="4658100" cy="33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351" y="1348050"/>
            <a:ext cx="4559379" cy="281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/>
              <a:t>Why Data Visualization Matters?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 rotWithShape="1">
          <a:blip r:embed="rId3">
            <a:alphaModFix/>
          </a:blip>
          <a:srcRect b="0" l="2959" r="0" t="0"/>
          <a:stretch/>
        </p:blipFill>
        <p:spPr>
          <a:xfrm>
            <a:off x="430000" y="775925"/>
            <a:ext cx="8488549" cy="43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Data Visualization Work?</a:t>
            </a:r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54775"/>
            <a:ext cx="8723051" cy="218484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58375" y="1138475"/>
            <a:ext cx="2010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Understand data</a:t>
            </a:r>
            <a:r>
              <a:rPr b="1" lang="en" sz="16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rgbClr val="2154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Clean and analyze the dataset to identify key insights.</a:t>
            </a:r>
            <a:endParaRPr sz="1600">
              <a:solidFill>
                <a:srgbClr val="2154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2099200" y="1480050"/>
            <a:ext cx="19275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Choose</a:t>
            </a:r>
            <a:r>
              <a:rPr b="1" lang="en" sz="16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right type visualization</a:t>
            </a:r>
            <a:endParaRPr b="1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54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Match the visual format (e.g., bar chart, pie chart) to the type of data.</a:t>
            </a:r>
            <a:endParaRPr b="1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4225575" y="1138475"/>
            <a:ext cx="23826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Design for clarity</a:t>
            </a:r>
            <a:r>
              <a:rPr b="1" lang="en" sz="16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6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54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labels, legends, consistent colors, and scales.</a:t>
            </a:r>
            <a:endParaRPr sz="1700">
              <a:solidFill>
                <a:srgbClr val="2154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6444800" y="1923850"/>
            <a:ext cx="24747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Test effectiveness</a:t>
            </a:r>
            <a:endParaRPr b="1" sz="16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54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Ensure the visualization communicates the intended message clearly</a:t>
            </a:r>
            <a:r>
              <a:rPr lang="en" sz="1300">
                <a:solidFill>
                  <a:srgbClr val="2154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1300">
              <a:solidFill>
                <a:srgbClr val="2154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Charts</a:t>
            </a:r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13" y="943563"/>
            <a:ext cx="2697826" cy="19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744" y="642725"/>
            <a:ext cx="2179550" cy="21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8175" y="2796350"/>
            <a:ext cx="2593140" cy="21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4863" y="943574"/>
            <a:ext cx="2844525" cy="14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0699" y="2742095"/>
            <a:ext cx="2392800" cy="1975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</a:t>
            </a:r>
            <a:endParaRPr/>
          </a:p>
        </p:txBody>
      </p:sp>
      <p:pic>
        <p:nvPicPr>
          <p:cNvPr id="104" name="Google Shape;104;p16" title="Correlation_Types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6175" y="866400"/>
            <a:ext cx="5176100" cy="4073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Data Visualizations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225450" y="1011500"/>
            <a:ext cx="4237800" cy="35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Quantitative Data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Numerical and measurable</a:t>
            </a:r>
            <a:br>
              <a:rPr lang="en"/>
            </a:br>
            <a:r>
              <a:rPr lang="en"/>
              <a:t>• Includes discrete and continuous data</a:t>
            </a:r>
            <a:br>
              <a:rPr lang="en"/>
            </a:br>
            <a:r>
              <a:rPr lang="en"/>
              <a:t>• Examples: Revenue, height, temperature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644500" y="1056825"/>
            <a:ext cx="4274100" cy="35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Qualitative Data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Descriptive and categorical</a:t>
            </a:r>
            <a:br>
              <a:rPr lang="en"/>
            </a:br>
            <a:r>
              <a:rPr lang="en"/>
              <a:t>• Includes nominal and ordinal data</a:t>
            </a:r>
            <a:br>
              <a:rPr lang="en"/>
            </a:br>
            <a:r>
              <a:rPr lang="en"/>
              <a:t>• Examples: Colors, product categories, satisfaction level</a:t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350" y="2815200"/>
            <a:ext cx="2031700" cy="10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 rotWithShape="1">
          <a:blip r:embed="rId4">
            <a:alphaModFix/>
          </a:blip>
          <a:srcRect b="56467" l="54845" r="0" t="7124"/>
          <a:stretch/>
        </p:blipFill>
        <p:spPr>
          <a:xfrm>
            <a:off x="225450" y="3144539"/>
            <a:ext cx="2031700" cy="1534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 rotWithShape="1">
          <a:blip r:embed="rId5">
            <a:alphaModFix/>
          </a:blip>
          <a:srcRect b="9445" l="5745" r="5452" t="28818"/>
          <a:stretch/>
        </p:blipFill>
        <p:spPr>
          <a:xfrm>
            <a:off x="2491850" y="3385575"/>
            <a:ext cx="1971400" cy="153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 rotWithShape="1">
          <a:blip r:embed="rId4">
            <a:alphaModFix/>
          </a:blip>
          <a:srcRect b="17902" l="45447" r="0" t="51432"/>
          <a:stretch/>
        </p:blipFill>
        <p:spPr>
          <a:xfrm>
            <a:off x="6895750" y="3464750"/>
            <a:ext cx="2104724" cy="11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Visualizations by Purpose</a:t>
            </a:r>
            <a:endParaRPr/>
          </a:p>
        </p:txBody>
      </p:sp>
      <p:graphicFrame>
        <p:nvGraphicFramePr>
          <p:cNvPr id="121" name="Google Shape;121;p18"/>
          <p:cNvGraphicFramePr/>
          <p:nvPr/>
        </p:nvGraphicFramePr>
        <p:xfrm>
          <a:off x="333175" y="95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{C3DEC917-87E7-408B-B352-A673C8E0A5B3}</a:tableStyleId>
              </a:tblPr>
              <a:tblGrid>
                <a:gridCol w="3056825"/>
                <a:gridCol w="3056825"/>
              </a:tblGrid>
              <a:tr h="44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Purpose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Common Charts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Show change over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 chart, area chart, bar chart, box plot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Show part-to-whole relationships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Pie chart, donut chart, stacked bar, treemap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Show distribution of data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Histogram, box plot, violin plot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Compare values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Bar chart, column chart, dot plot, grouped bar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Show relationships between variables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Scatter plot, bubble chart, heatmap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Show geographical patterns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54A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Choropleth map, symbol map</a:t>
                      </a:r>
                      <a:endParaRPr>
                        <a:solidFill>
                          <a:srgbClr val="2154A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9225" y="981646"/>
            <a:ext cx="2392375" cy="36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225454" y="272412"/>
            <a:ext cx="68469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/>
              <a:t>Principles of Good Visualization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975" y="1011500"/>
            <a:ext cx="3648075" cy="28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225450" y="1523675"/>
            <a:ext cx="25233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b="1"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Ensure that visualizations represent data truthfully.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Avoid misleading scales or distortions that can misrepresent the data.​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581775" y="3186650"/>
            <a:ext cx="25233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CLARITY</a:t>
            </a:r>
            <a:endParaRPr b="1"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Design visuals that are easy to understand at a glance.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Use clear labels, legends, and avoid unnecessary clutter.​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6474350" y="1367775"/>
            <a:ext cx="25233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AESTHETICS</a:t>
            </a:r>
            <a:endParaRPr b="1"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Use consistent color schemes and fonts to enhance readability.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Ensure that the design is visually appealing to maintain engagement.</a:t>
            </a:r>
            <a:r>
              <a:rPr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​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822750" y="3370600"/>
            <a:ext cx="28398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Present data in a way that allows viewers to quickly grasp insights.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Highlight key information without overwhelming details.​</a:t>
            </a:r>
            <a:endParaRPr sz="1100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368100" y="2312525"/>
            <a:ext cx="50412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195950" y="1137875"/>
            <a:ext cx="8529000" cy="29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" u="none" cap="none" strike="noStrike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We will discover how to generate </a:t>
            </a:r>
            <a:r>
              <a:rPr lang="en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basic </a:t>
            </a:r>
            <a:r>
              <a:rPr i="0" lang="en" u="none" cap="none" strike="noStrike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plots using Python libraries such as </a:t>
            </a:r>
            <a:endParaRPr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400"/>
              <a:buFont typeface="Montserrat"/>
              <a:buChar char="●"/>
            </a:pPr>
            <a:r>
              <a:rPr i="0" lang="en" u="none" cap="none" strike="noStrike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 i="0" u="none" cap="none" strike="noStrike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154A5"/>
              </a:buClr>
              <a:buSzPts val="1400"/>
              <a:buFont typeface="Montserrat"/>
              <a:buChar char="●"/>
            </a:pPr>
            <a:r>
              <a:rPr i="0" lang="en" u="none" cap="none" strike="noStrike">
                <a:solidFill>
                  <a:srgbClr val="2154A5"/>
                </a:solidFill>
                <a:latin typeface="Montserrat"/>
                <a:ea typeface="Montserrat"/>
                <a:cs typeface="Montserrat"/>
                <a:sym typeface="Montserrat"/>
              </a:rPr>
              <a:t>Seaborn</a:t>
            </a:r>
            <a:endParaRPr i="0" u="none" cap="none" strike="noStrike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rgbClr val="2154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1"/>
          <p:cNvSpPr txBox="1"/>
          <p:nvPr>
            <p:ph type="title"/>
          </p:nvPr>
        </p:nvSpPr>
        <p:spPr>
          <a:xfrm>
            <a:off x="205358" y="159220"/>
            <a:ext cx="87333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